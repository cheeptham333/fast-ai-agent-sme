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st-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3383280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468880"/>
            <a:ext cx="9445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B1B3D"/>
                </a:solidFill>
              </a:defRPr>
            </a:pPr>
            <a:r>
              <a:t>AI Agent &amp; Vibe Coding for SME</a:t>
            </a:r>
          </a:p>
          <a:p>
            <a:pPr algn="ctr">
              <a:spcBef>
                <a:spcPts val="1000"/>
              </a:spcBef>
              <a:defRPr sz="1800">
                <a:solidFill>
                  <a:srgbClr val="0284C7"/>
                </a:solidFill>
              </a:defRPr>
            </a:pPr>
            <a:r>
              <a:t>ขับเคลื่อนด้วย Google Gemini 3.7, Antigravity, ChatGPT 5.6 &amp; Claude Opus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754880"/>
            <a:ext cx="8531352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892040"/>
            <a:ext cx="816559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B3D"/>
                </a:solidFill>
              </a:defRPr>
            </a:pPr>
            <a:r>
              <a:t>🚀 หลักสูตร Fast AI สำหรับผู้ประกอบการ SME (อายุ 30+ ไม่มีพื้นฐานเขียนโปรแกรม)</a:t>
            </a:r>
          </a:p>
          <a:p>
            <a:pPr algn="ctr">
              <a:spcBef>
                <a:spcPts val="400"/>
              </a:spcBef>
              <a:defRPr sz="1200">
                <a:solidFill>
                  <a:srgbClr val="DC2626"/>
                </a:solidFill>
              </a:defRPr>
            </a:pPr>
            <a:r>
              <a:t>KPI: สั่งงานได้จริง • พัฒนาระบบใช้เองได้ใน 1 วัน • ขยายรายได้ ลดรายจ่าย ด้วยต้นทุน 0 บาท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FAST AI MASTERCLASS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B3D"/>
                </a:solidFill>
              </a:defRPr>
            </a:pPr>
            <a:r>
              <a:t>บริบท AI ประเทศไทย 2026: โอกาสทองของ SME ยุคใหม่</a:t>
            </a:r>
          </a:p>
        </p:txBody>
      </p:sp>
      <p:pic>
        <p:nvPicPr>
          <p:cNvPr id="4" name="Picture 3" descr="fast-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1645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B3D"/>
                </a:solidFill>
              </a:defRPr>
            </a:pPr>
            <a:r>
              <a:t>📊 ผลสำรวจ AWS 2026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Unlocking Thailand's AI Potential</a:t>
            </a:r>
            <a:br/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84% ของ SME ไทยที่ใช้ AI รายงานว่าประสิทธิภาพงานเพิ่มขึ้นชัดเจน</a:t>
            </a:r>
            <a:br/>
            <a:br/>
            <a:r>
              <a:t>• 71% มีรายได้เติบโตเฉลี่ย 19% ภายในปีแรกที่นำมาปรับใช้</a:t>
            </a:r>
            <a:br/>
            <a:br/>
            <a:r>
              <a:t>• ประหยัดเวลาทำงานเอกสาร 15-20 ชม./สัปดาห์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B3D"/>
                </a:solidFill>
              </a:defRPr>
            </a:pPr>
            <a:r>
              <a:t>🇹🇭 UOB Study 2026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Business Outlook Study 2026</a:t>
            </a:r>
            <a:br/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ผู้ประกอบการไทยกว่า 70% เริ่มนำ AI เข้าสู่องค์กรแล้ว นำหน้าค่าเฉลี่ยอาเซียน</a:t>
            </a:r>
            <a:br/>
            <a:br/>
            <a:r>
              <a:t>• SME ที่ไม่ปรับตัวเผชิญปัญหาต้นทุนค่าแรงและตอบลูกค้าช้ากว่าคู่แข่ง 3 เท่า</a:t>
            </a:r>
            <a:br/>
            <a:br/>
            <a:r>
              <a:t>• การนำ AI Agent มาตอบแชทกู้คืนยอดขายได้ 35%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💡 สิ่งที่ SME ต้องตระหนัก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1. AI ไม่ได้มาแทนที่คุณ แต่คนที่ใช้ AI เป็นจะมาแทนคนที่ปฏิเสธ AI</a:t>
            </a:r>
            <a:br/>
            <a:br/>
            <a:r>
              <a:t>2. เครื่องมือยุค 2026 ฟรีและง่าย ไม่จำเป็นต้องรู้โค้ด</a:t>
            </a:r>
            <a:br/>
            <a:br/>
            <a:r>
              <a:t>3. เริ่มต้นจากโจทย์เล็กๆ ที่เห็นผลกำไรทันที (Quick Win)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FAST AI MASTERCLASS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B3D"/>
                </a:solidFill>
              </a:defRPr>
            </a:pPr>
            <a:r>
              <a:t>Mindset Vibe Coding: เลิกเขียนโค้ด เปลี่ยนเป็น CEO คุม Agent</a:t>
            </a:r>
          </a:p>
        </p:txBody>
      </p:sp>
      <p:pic>
        <p:nvPicPr>
          <p:cNvPr id="4" name="Picture 3" descr="fast-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1645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🎯 กฎทอง 80/20 ในการสั่งงาน AI Agent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80% ของความสำเร็จ มาจากการ 'ตั้งโจทย์และบรีฟงานที่ชัดเจน' (Context, Target, Business Logic)</a:t>
            </a:r>
            <a:br/>
            <a:br/>
            <a:r>
              <a:t>• 20% ที่เหลือ คือการตรวจรับงานและขัดเกลา (Feedback Loop)</a:t>
            </a:r>
            <a:br/>
            <a:br/>
            <a:r>
              <a:t>• Prompt แรกได้ผลงาน 40-60% เสมอ! การปรับแก้ทีละจุด (Iteration) คือหัวใจสำคัญ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B3D"/>
                </a:solidFill>
              </a:defRPr>
            </a:pPr>
            <a:r>
              <a:t>🔄 เปรียบเทียบวิธีคิด (Mindset Shift)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❌ แบบเดิม (Developer Mindset):</a:t>
            </a:r>
            <a:br/>
            <a:r>
              <a:t>- ต้องท่องจำ Syntax, ปีกกา, เซมิโคลอน</a:t>
            </a:r>
            <a:br/>
            <a:r>
              <a:t>- ใช้เวลาเรียนเป็นปี เสียเวลาธุรกิจ</a:t>
            </a:r>
            <a:br/>
            <a:br/>
            <a:r>
              <a:t>✅ แบบ Vibe Coding (CEO Mindset):</a:t>
            </a:r>
            <a:br/>
            <a:r>
              <a:t>- สั่งการด้วยภาษาธุรกิจ (Business Language)</a:t>
            </a:r>
            <a:br/>
            <a:r>
              <a:t>- AI ทำหน้าที่เป็นทีมวิศวกรซอฟต์แวร์ 5 คน</a:t>
            </a:r>
            <a:br/>
            <a:r>
              <a:t>- ตรวจงานและอนุมัติด้วยสายตา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FAST AI MASTERCLASS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B3D"/>
                </a:solidFill>
              </a:defRPr>
            </a:pPr>
            <a:r>
              <a:t>The Frontier AI Stack: 4 ขุนพลเรือธงประจำองค์กร</a:t>
            </a:r>
          </a:p>
        </p:txBody>
      </p:sp>
      <p:pic>
        <p:nvPicPr>
          <p:cNvPr id="4" name="Picture 3" descr="fast-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1645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B3D"/>
                </a:solidFill>
              </a:defRPr>
            </a:pPr>
            <a:r>
              <a:t>01</a:t>
            </a:r>
          </a:p>
          <a:p>
            <a:pPr>
              <a:defRPr sz="1300" b="1">
                <a:solidFill>
                  <a:srgbClr val="0B1B3D"/>
                </a:solidFill>
              </a:defRPr>
            </a:pPr>
            <a:r>
              <a:t>Google Gemini 3.7</a:t>
            </a:r>
          </a:p>
          <a:p>
            <a:pPr>
              <a:defRPr sz="1000" b="1">
                <a:solidFill>
                  <a:srgbClr val="DC2626"/>
                </a:solidFill>
              </a:defRPr>
            </a:pPr>
            <a:r>
              <a:t>Primary Engine (พระเอก)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ขับเคลื่อน Antigravity &amp; NotebookLM ประมวลผลเอกสาร/ภาพ 2M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02</a:t>
            </a:r>
          </a:p>
          <a:p>
            <a:pPr>
              <a:defRPr sz="1300" b="1">
                <a:solidFill>
                  <a:srgbClr val="0B1B3D"/>
                </a:solidFill>
              </a:defRPr>
            </a:pPr>
            <a:r>
              <a:t>Google NotebookLM</a:t>
            </a:r>
          </a:p>
          <a:p>
            <a:pPr>
              <a:defRPr sz="1000" b="1">
                <a:solidFill>
                  <a:srgbClr val="DC2626"/>
                </a:solidFill>
              </a:defRPr>
            </a:pPr>
            <a:r>
              <a:t>Second Brain (สมองที่ 2)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คลังความรู้ปลอดข้อมูลมั่ว 100% + Audio Podcast Studio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03</a:t>
            </a:r>
          </a:p>
          <a:p>
            <a:pPr>
              <a:defRPr sz="1300" b="1">
                <a:solidFill>
                  <a:srgbClr val="0B1B3D"/>
                </a:solidFill>
              </a:defRPr>
            </a:pPr>
            <a:r>
              <a:t>ChatGPT 5.6 Sol / Canvas</a:t>
            </a:r>
          </a:p>
          <a:p>
            <a:pPr>
              <a:defRPr sz="1000" b="1">
                <a:solidFill>
                  <a:srgbClr val="DC2626"/>
                </a:solidFill>
              </a:defRPr>
            </a:pPr>
            <a:r>
              <a:t>Strategic Reasoning &amp; UI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ปรับแต่ง UI สดแบบ Interactive และวิเคราะห์ธุรกิจเชิงลึก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defRPr sz="1300" b="1">
                <a:solidFill>
                  <a:srgbClr val="0B1B3D"/>
                </a:solidFill>
              </a:defRPr>
            </a:pPr>
            <a:r>
              <a:t>Claude Opus 5 / Sonnet 5</a:t>
            </a:r>
          </a:p>
          <a:p>
            <a:pPr>
              <a:defRPr sz="1000" b="1">
                <a:solidFill>
                  <a:srgbClr val="DC2626"/>
                </a:solidFill>
              </a:defRPr>
            </a:pPr>
            <a:r>
              <a:t>Master Coder &amp; Computer Use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เขียนโค้ดสถาปัตยกรรมใหญ่ และสั่ง AI ควบคุมหน้าจอคอม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FAST AI MASTERCLASS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B3D"/>
                </a:solidFill>
              </a:defRPr>
            </a:pPr>
            <a:r>
              <a:t>เจาะลึก Google Antigravity 2.0 &amp; Gemini 3.7 Flash</a:t>
            </a:r>
          </a:p>
        </p:txBody>
      </p:sp>
      <p:pic>
        <p:nvPicPr>
          <p:cNvPr id="4" name="Picture 3" descr="fast-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1645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⚡ Slash Commands ทรงพลังประจำองค์กร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/goal [เป้าหมาย]: สั่ง Agent ทำงานลึกข้ามคืนจนเสร็จ 100%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/schedule: ตั้งเวลาให้บอทตื่นมาทำงานอัตโนมัติ (Cron Job)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/browser: สั่งเปิดเบราว์เซอร์ส่องเว็บคู่แข่ง ดึงข้อมูล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/grill-me: ให้ AI สัมภาษณ์เราเพื่อตกผลึก Requirement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/teamwork-preview: กระจายงานให้ Subagents หลายตัวทำงานขนานกัน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B3D"/>
                </a:solidFill>
              </a:defRPr>
            </a:pPr>
            <a:r>
              <a:t>👥 สถาปัตยกรรมทีมงานย่อย (Subagents)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1. Research Subagent:</a:t>
            </a:r>
            <a:br/>
            <a:r>
              <a:t>ทำหน้าที่สำรวจโครงสร้าง อ่านคู่มือ ส่อง API แบบ Read-only เพื่อวางแผนอย่างรัดกุม</a:t>
            </a:r>
            <a:br/>
            <a:br/>
            <a:r>
              <a:t>2. Execution Subagent (Self):</a:t>
            </a:r>
            <a:br/>
            <a:r>
              <a:t>ลงมือเขียนไฟล์ สร้างฐานข้อมูล รันคำสั่ง และทดสอบแอปพลิเคชัน</a:t>
            </a:r>
            <a:br/>
            <a:br/>
            <a:r>
              <a:t>3. Continuous Feedback:</a:t>
            </a:r>
            <a:br/>
            <a:r>
              <a:t>ระบบแจ้งเตือนอัตโนมัติเมื่อเจอปัญหาและทำการแก้โค้ดตัวเอง (Self-Healing)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FAST AI MASTERCLASS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B3D"/>
                </a:solidFill>
              </a:defRPr>
            </a:pPr>
            <a:r>
              <a:t>Google Gemini Notebook (NotebookLM): ศูนย์รวมสมองที่ 2</a:t>
            </a:r>
          </a:p>
        </p:txBody>
      </p:sp>
      <p:pic>
        <p:nvPicPr>
          <p:cNvPr id="4" name="Picture 3" descr="fast-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1645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B3D"/>
                </a:solidFill>
              </a:defRPr>
            </a:pPr>
            <a:r>
              <a:t>🧠 Second Brain ปลอดการมั่วข้อมูล 100% (Powered by Gemini 3.7)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1. Source-Grounded Q&amp;A:</a:t>
            </a:r>
            <a:br/>
            <a:r>
              <a:t>โยนคู่มือบริษัท, แคตตาล็อก, สัญญา, SOP เข้าไป AI จะตอบโดยอ้างอิงเอกสารเท่านั้น พร้อมชี้หน้าและบรรทัดที่มา</a:t>
            </a:r>
            <a:br/>
            <a:br/>
            <a:r>
              <a:t>2. Audio Overview Studio (Deep Dive Podcast):</a:t>
            </a:r>
            <a:br/>
            <a:r>
              <a:t>คลิกเดียว แปลงเอกสารหนา 50 หน้า เป็นรายการพอดแคสต์เสียงจำลองภาษาไทย/อังกฤษ เปิดฟังทบทวนขณะขับรถ</a:t>
            </a:r>
            <a:br/>
            <a:br/>
            <a:r>
              <a:t>3. สะพานเชื่อมสู่ AI Agent:</a:t>
            </a:r>
            <a:br/>
            <a:r>
              <a:t>สกัด Requirement ทางธุรกิจจาก NotebookLM ส่งต่อให้ Google Antigravity เขียนแอปพลิเคชันได้ตรงเป้า 100%</a:t>
            </a:r>
            <a:br/>
            <a:br/>
            <a:r>
              <a:t>🔗 ลิงก์คลังความรู้ Fast AI: https://notebook.google.com/notebook/be661c24-57d5-4208-ba66-73e9aff3cca8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FAST AI MASTERCLASS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B3D"/>
                </a:solidFill>
              </a:defRPr>
            </a:pPr>
            <a:r>
              <a:t>5 พิมพ์เขียวโปรเจกต์จริง SME (Workshop Blueprints)</a:t>
            </a:r>
          </a:p>
        </p:txBody>
      </p:sp>
      <p:pic>
        <p:nvPicPr>
          <p:cNvPr id="4" name="Picture 3" descr="fast-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1645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B3D"/>
                </a:solidFill>
              </a:defRPr>
            </a:pPr>
            <a:r>
              <a:t>🛍️ บอทส่องราคาคู่แข่ง (Gemini 3.7 Flash)  |  Scraper + LINE Notify</a:t>
            </a:r>
          </a:p>
          <a:p>
            <a:pPr>
              <a:defRPr sz="1100">
                <a:solidFill>
                  <a:srgbClr val="DC2626"/>
                </a:solidFill>
              </a:defRPr>
            </a:pPr>
            <a:r>
              <a:t>🎯 ผลลัพธ์ทางธุรกิจ (ROI): รู้ราคาก่อน ปรับโปรทันที ประหยัด 20 ชม./สัปดาห์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B3D"/>
                </a:solidFill>
              </a:defRPr>
            </a:pPr>
            <a:r>
              <a:t>🤖 24/7 AI Sales Rep (Gemini 3.7 Flash API)  |  Gemini + Sheets CRM</a:t>
            </a:r>
          </a:p>
          <a:p>
            <a:pPr>
              <a:defRPr sz="1100">
                <a:solidFill>
                  <a:srgbClr val="DC2626"/>
                </a:solidFill>
              </a:defRPr>
            </a:pPr>
            <a:r>
              <a:t>🎯 ผลลัพธ์ทางธุรกิจ (ROI): ตอบแชทกะดึก ปิดการขาย ออเดอร์ไม่ตกหล่น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11296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B3D"/>
                </a:solidFill>
              </a:defRPr>
            </a:pPr>
            <a:r>
              <a:t>📦 สต็อกอัจฉริยะ (React + Gemini 3.7)  |  Smart Inventory + Reorder</a:t>
            </a:r>
          </a:p>
          <a:p>
            <a:pPr>
              <a:defRPr sz="1100">
                <a:solidFill>
                  <a:srgbClr val="DC2626"/>
                </a:solidFill>
              </a:defRPr>
            </a:pPr>
            <a:r>
              <a:t>🎯 ผลลัพธ์ทางธุรกิจ (ROI): ป้องกันของขาด/ทุนจม คำนวณ Safety Stock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B3D"/>
                </a:solidFill>
              </a:defRPr>
            </a:pPr>
            <a:r>
              <a:t>📱 Multi-Platform Content Generator  |  AI Caption &amp; Graphic</a:t>
            </a:r>
          </a:p>
          <a:p>
            <a:pPr>
              <a:defRPr sz="1100">
                <a:solidFill>
                  <a:srgbClr val="DC2626"/>
                </a:solidFill>
              </a:defRPr>
            </a:pPr>
            <a:r>
              <a:t>🎯 ผลลัพธ์ทางธุรกิจ (ROI): ผลิต 30 โพสต์ใน 10 นาที ประหยัด 2.5 หมื่น/ด.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B3D"/>
                </a:solidFill>
              </a:defRPr>
            </a:pPr>
            <a:r>
              <a:t>📊 Executive Financial Dashboard  |  Finance &amp; Cashflow Chart</a:t>
            </a:r>
          </a:p>
          <a:p>
            <a:pPr>
              <a:defRPr sz="1100">
                <a:solidFill>
                  <a:srgbClr val="DC2626"/>
                </a:solidFill>
              </a:defRPr>
            </a:pPr>
            <a:r>
              <a:t>🎯 ผลลัพธ์ทางธุรกิจ (ROI): ดูกำไร-ขาดทุน Real-time ไม่ต้องรองบสิ้นเดือน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FAST AI MASTERCLASS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B3D"/>
                </a:solidFill>
              </a:defRPr>
            </a:pPr>
            <a:r>
              <a:t>เทคนิคระดับว้าว: Computer Use &amp; DeepSeek Local AI</a:t>
            </a:r>
          </a:p>
        </p:txBody>
      </p:sp>
      <p:pic>
        <p:nvPicPr>
          <p:cNvPr id="4" name="Picture 3" descr="fast-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1645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🖱️ Computer Use (Claude Opus 5)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ให้ AI มองหน้าจอ เลื่อนเมาส์ คลิกปุ่ม และพิมพ์คีย์บอร์ดแทนมนุษย์จริง</a:t>
            </a:r>
            <a:br/>
            <a:br/>
            <a:r>
              <a:t>• กรอกฟอร์มภาษี e-Filing หรือระบบราชการอัตโนมัติจากไฟล์ Excel</a:t>
            </a:r>
            <a:br/>
            <a:br/>
            <a:r>
              <a:t>• ล็อกอินโหลดใบเสร็จ/สลิปธนาคารเข้าโฟลเดอร์แยกแผนกทุกสิ้นเดือน</a:t>
            </a:r>
            <a:br/>
            <a:br/>
            <a:r>
              <a:t>• ส่องหน้าจอคัดลอกข้อมูลข้ามโปรแกรมเก่า (Legacy ERP) เข้า Google Sheets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B3D"/>
                </a:solidFill>
              </a:defRPr>
            </a:pPr>
            <a:r>
              <a:t>🐼 DeepSeek-V4 &amp; Local AI (PDPA 100%)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รันโมเดล DeepSeek-V4 แบบ Offline ในคอมพิวเตอร์ออฟฟิศ ข้อมูลไม่ออกสู่คลาวด์</a:t>
            </a:r>
            <a:br/>
            <a:br/>
            <a:r>
              <a:t>• ประมวลผลข้อมูลเงินเดือน สัญญาความลับ และงบการเงินอย่างปลอดภัย 100%</a:t>
            </a:r>
            <a:br/>
            <a:br/>
            <a:r>
              <a:t>• Voice-to-Code: ใช้เสียงพูดภาษาไทยบรีฟงานระหว่างเดินทาง ให้ Agent เขียนทั้งระบบเสร็จก่อนถึงออฟฟิศ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FAST AI MASTERCLASS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B3D"/>
                </a:solidFill>
              </a:defRPr>
            </a:pPr>
            <a:r>
              <a:t>Deploy ขึ้น Production จริง 0 บาท &amp; แผนภาพ Automation</a:t>
            </a:r>
          </a:p>
        </p:txBody>
      </p:sp>
      <p:pic>
        <p:nvPicPr>
          <p:cNvPr id="4" name="Picture 3" descr="fast-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1645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Step 01</a:t>
            </a:r>
          </a:p>
          <a:p>
            <a:pPr>
              <a:defRPr sz="1300" b="1">
                <a:solidFill>
                  <a:srgbClr val="0B1B3D"/>
                </a:solidFill>
              </a:defRPr>
            </a:pPr>
            <a:r>
              <a:t>1. Push Code to GitHub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สั่ง Agent ให้เซฟโค้ดขึ้นตู้เซฟ GitHub อัตโนมัติ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Step 02</a:t>
            </a:r>
          </a:p>
          <a:p>
            <a:pPr>
              <a:defRPr sz="1300" b="1">
                <a:solidFill>
                  <a:srgbClr val="0B1B3D"/>
                </a:solidFill>
              </a:defRPr>
            </a:pPr>
            <a:r>
              <a:t>2. Connect with Vercel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กด Add Project ใน Vercel เลือก Repository กด 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Step 03</a:t>
            </a:r>
          </a:p>
          <a:p>
            <a:pPr>
              <a:defRPr sz="1300" b="1">
                <a:solidFill>
                  <a:srgbClr val="0B1B3D"/>
                </a:solidFill>
              </a:defRPr>
            </a:pPr>
            <a:r>
              <a:t>3. Live in 2 Minutes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ได้ลิงก์ https://your-app.vercel.app พร้อม SSL ฟรี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Step 04</a:t>
            </a:r>
          </a:p>
          <a:p>
            <a:pPr>
              <a:defRPr sz="1300" b="1">
                <a:solidFill>
                  <a:srgbClr val="0B1B3D"/>
                </a:solidFill>
              </a:defRPr>
            </a:pPr>
            <a:r>
              <a:t>4. Attach Custom Domain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ผูกชื่อเว็บของบริษัท เช่น www.mycompany.com ใน 5 นาที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728655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🔒 กฎเหล็กความปลอดภัย &amp; พ.ร.บ. คุ้มครองข้อมูลส่วนบุคคล (PDPA 2562)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ห้ามใส่ข้อมูลลูกค้าจริง, รหัสผ่าน หรือ API Key ลงใน Prompt เด็ดขาด (ใช้ Mock Data เสมอ)</a:t>
            </a:r>
            <a:br/>
            <a:r>
              <a:t>• ซ่อน API Key ในไฟล์ .env และใช้ระบบ Authentication ที่ได้มาตรฐานสากล (Firebase / Supabase)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FAST AI MASTERCLASS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B3D"/>
                </a:solidFill>
              </a:defRPr>
            </a:pPr>
            <a:r>
              <a:t>แผนปฏิบัติการ 30 วัน (30-Day SME Action Plan)</a:t>
            </a:r>
          </a:p>
        </p:txBody>
      </p:sp>
      <p:pic>
        <p:nvPicPr>
          <p:cNvPr id="4" name="Picture 3" descr="fast-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645920" cy="1645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B3D"/>
                </a:solidFill>
              </a:defRPr>
            </a:pPr>
            <a:r>
              <a:t>🗓️ สัปดาห์ที่ 1: เลือก 1 ปัญหาเจ็บปวด (Pain Point) สูงสุดในบริษัทมาทดลองสร้าง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B3D"/>
                </a:solidFill>
              </a:defRPr>
            </a:pPr>
            <a:r>
              <a:t>🗓️ สัปดาห์ที่ 2: ใช้ Google Antigravity &amp; NotebookLM (Gemini 3.7) ร่างระบบและทดสอบ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B3D"/>
                </a:solidFill>
              </a:defRPr>
            </a:pPr>
            <a:r>
              <a:t>🗓️ สัปดาห์ที่ 3: Deploy ขึ้น Vercel ทดลองใช้งานกับลูกค้าหรือพนักงานกลุ่มย่อย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59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B3D"/>
                </a:solidFill>
              </a:defRPr>
            </a:pPr>
            <a:r>
              <a:t>🗓️ สัปดาห์ที่ 4: วัดผล ROI (เวลาและเงินที่ประหยัดได้) แล้วเริ่มสร้างระบบถัดไป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เริ่มต้น Vibe Coding วันนี้ — AI ช่วยสร้าง แต่คุณคือผู้นำความสำเร็จสู่องค์กร!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